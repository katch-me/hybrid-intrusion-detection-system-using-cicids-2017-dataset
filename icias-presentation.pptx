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94534747a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894534747a_2_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4534747a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894534747a_2_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94534747a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894534747a_2_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94534747a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894534747a_2_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94534747a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894534747a_2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94534747a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894534747a_2_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94534747a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894534747a_2_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94534747a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894534747a_2_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94534747a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894534747a_2_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94534747a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894534747a_2_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94534747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94534747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94534747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894534747a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94534747a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94534747a_2_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628650" y="1480456"/>
            <a:ext cx="7886701" cy="29935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7.jpg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6.jpg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uilding with a blue and yellow banner&#10;&#10;AI-generated content may be incorrect."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144" y="539360"/>
            <a:ext cx="9129712" cy="462200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/>
        </p:nvSpPr>
        <p:spPr>
          <a:xfrm>
            <a:off x="846534" y="2968222"/>
            <a:ext cx="7372350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Sir Padampat Singhania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Udaipur, Rajasthan, India</a:t>
            </a:r>
            <a:endParaRPr sz="1100"/>
          </a:p>
        </p:txBody>
      </p:sp>
      <p:pic>
        <p:nvPicPr>
          <p:cNvPr descr="A black text on a white background&#10;&#10;AI-generated content may be incorrect."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26380" y="14270"/>
            <a:ext cx="1577340" cy="497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blue text&#10;&#10;AI-generated content may be incorrect.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6664" y="5868"/>
            <a:ext cx="1303020" cy="514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AI-generated content may be incorrect."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45" y="10715"/>
            <a:ext cx="1393031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AI-generated content may be incorrect." id="56" name="Google Shape;5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7380" y="16584"/>
            <a:ext cx="1577340" cy="49737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628650" y="273853"/>
            <a:ext cx="78867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Paper-ID : 190</a:t>
            </a:r>
            <a:br>
              <a:rPr lang="en"/>
            </a:br>
            <a:r>
              <a:rPr lang="en"/>
              <a:t>A Hybrid Deep Learning Approach for Intelligent Intrusion Detection</a:t>
            </a:r>
            <a:endParaRPr/>
          </a:p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710425" y="2257351"/>
            <a:ext cx="7804800" cy="25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Name of the Authors : Vasava Khushi, Vekariya Poojal, Patel Yug, Patel Vraj, Sunil Gautam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Affiliation : Nirma University, India</a:t>
            </a:r>
            <a:endParaRPr/>
          </a:p>
        </p:txBody>
      </p:sp>
      <p:pic>
        <p:nvPicPr>
          <p:cNvPr descr="icias-2025.jpg" id="74" name="Google Shape;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4329" y="61404"/>
            <a:ext cx="2173029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077750" y="1009800"/>
            <a:ext cx="418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Abstract</a:t>
            </a:r>
            <a:endParaRPr/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480456"/>
            <a:ext cx="7886701" cy="29935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Due to the escalation of cyber-attacks, there is a strong demand for intelligent IDS.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This paper presents a hybrid IDS </a:t>
            </a:r>
            <a:r>
              <a:rPr lang="en"/>
              <a:t>framework</a:t>
            </a:r>
            <a:r>
              <a:rPr lang="en"/>
              <a:t> that combines PCA + RF + GRU + LSTM using CICIDS2017 dataset.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Results show F1-scores &gt; 0.95 for common attacks, but class imbalance reduces performance on rare attacks like Botnet and Web Attacks. </a:t>
            </a:r>
            <a:endParaRPr/>
          </a:p>
        </p:txBody>
      </p:sp>
      <p:pic>
        <p:nvPicPr>
          <p:cNvPr descr="icias-2025.jpg" id="82" name="Google Shape;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9328" y="61404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Introduction</a:t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8650" y="1480456"/>
            <a:ext cx="7886701" cy="29935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Modern networks (IoT, cloud) are complex and face increasing intrusion threats [14]</a:t>
            </a: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Traditional IDS struggle with zero-day attacks; anomaly detection is more effective [13][6].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Deep models (LSTM, GRU) capture temporal traffic patterns, while PCA reduces dimensions [9][11]. 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This study proposes a two -stage IDS: RF at edge, GRU + LSTM  at cloud, tested on CICIDS2017 dataset. </a:t>
            </a:r>
            <a:endParaRPr/>
          </a:p>
        </p:txBody>
      </p:sp>
      <p:pic>
        <p:nvPicPr>
          <p:cNvPr descr="icias-2025.jpg" id="89" name="Google Shape;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2494" y="145324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628650" y="2050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Related Work / Literature Review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628650" y="868728"/>
            <a:ext cx="7886700" cy="4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LSTM + GRU improve temporal anomaly detection [1].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GRU-LSTM ensembles for IoT networks [5].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Hybrid CNN + ANN + LSTM + GRU models capture </a:t>
            </a:r>
            <a:r>
              <a:rPr lang="en"/>
              <a:t>spatial</a:t>
            </a:r>
            <a:r>
              <a:rPr lang="en"/>
              <a:t> + temporal patterns [3].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CNN-based IDS focuses on spatial but lacks temporal analysis.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Limitations of past works: high computation, overfitting, weak on simultaneous attacks.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Our IDS: RF filtering at edge + GRU &amp; LSTM at cloud, scalable and accurate [13][14].</a:t>
            </a:r>
            <a:endParaRPr/>
          </a:p>
        </p:txBody>
      </p:sp>
      <p:pic>
        <p:nvPicPr>
          <p:cNvPr descr="icias-2025.jpg" id="96" name="Google Shape;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6165" y="85130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Problem Statement &amp; Objectives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628650" y="1480456"/>
            <a:ext cx="7886701" cy="29935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Detect multiple and rare intrusions in complex networks.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Ensure IDS scalability , speed, and </a:t>
            </a:r>
            <a:r>
              <a:rPr lang="en"/>
              <a:t>accuracy</a:t>
            </a:r>
            <a:r>
              <a:rPr lang="en"/>
              <a:t> 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Combine classical(RF) and deep learning (GRU, LSTM).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Apply PCA for feature reduction.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Evaluate performance on CICIDS2017 dataset.</a:t>
            </a:r>
            <a:endParaRPr/>
          </a:p>
        </p:txBody>
      </p:sp>
      <p:pic>
        <p:nvPicPr>
          <p:cNvPr descr="icias-2025.jpg" id="103" name="Google Shape;1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9328" y="61404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Proposed Methodology</a:t>
            </a:r>
            <a:endParaRPr/>
          </a:p>
        </p:txBody>
      </p:sp>
      <p:pic>
        <p:nvPicPr>
          <p:cNvPr descr="icias-2025.jpg" id="109" name="Google Shape;1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4522" y="85130"/>
            <a:ext cx="2173029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 title="siz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3850" y="941975"/>
            <a:ext cx="3038650" cy="393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4514700" y="937475"/>
            <a:ext cx="4443000" cy="3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Preprocessing and PCA (retain 95% variance).</a:t>
            </a:r>
            <a:endParaRPr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Edge Layer: Random Forest for primary filtering. </a:t>
            </a:r>
            <a:endParaRPr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Cloud Layer: GRU + LSTM for temporal sequence modeling. </a:t>
            </a:r>
            <a:endParaRPr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Metrics: Accuracy, Precision, Recall, F1-score, ROC-AUC.  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Results and Discussion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628650" y="1480456"/>
            <a:ext cx="7886701" cy="29935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detection performance: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DDoS: 99.86% (F1 = 0.9855)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DoS: 99.36% (F1 = 0.9612)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Brute Force: 98.31% (F1 = 0.8499)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Port Scanning: 98.92% (F1 = 0.8692)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Web Attacks: 96.42% (F1 = 0.7575)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Botnet: 95.21% (F1 = 0.7072)</a:t>
            </a:r>
            <a:endParaRPr/>
          </a:p>
        </p:txBody>
      </p:sp>
      <p:pic>
        <p:nvPicPr>
          <p:cNvPr descr="icias-2025.jpg" id="118" name="Google Shape;1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0850" y="161653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Conclusion and Future Work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628650" y="1268025"/>
            <a:ext cx="7886700" cy="3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Hybrid IDS (PCA + RF + GRU + LSTM) achieved high accuracy and scalability.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Effective in detecting DDoS, DoS, Brute Force attacks.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Performance lower on rare attacks due to class imbalance.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Extend to multi-class classification.</a:t>
            </a:r>
            <a:endParaRPr/>
          </a:p>
        </p:txBody>
      </p:sp>
      <p:pic>
        <p:nvPicPr>
          <p:cNvPr descr="icias-2025.jpg" id="125" name="Google Shape;1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1865" y="85130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References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268025"/>
            <a:ext cx="7886700" cy="3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Narudkar, M. S., Mahajan, A., &amp; Agarkar, P. (2023). Intrusion Detection for real time Network Dataset using PCA and Random Forest Algorithms.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INTERNATIONAL JOURNAL, 7(9).﻿﻿﻿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Laghrissi, F., Douzi, S., Douzi, K., &amp; Hssina, B. (2021). Intrusion detection systems using long short-term memory (LSTM). Journal of Big Data, 8(1), 65.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﻿﻿﻿Muhuri, P. S., Chatterjee, P., Yuan, X., Roy, K., &amp; Esterline, A. (2020). Koniki, R., Ampapurapu, M. D., &amp; Kollu, P. K. (2022, April). An anomaly based network intrusion detection system using LSTM and GRU. In 2022 International Conference on Electronic Systems and Intelligent Computing (ICES/C) (p.79-84). IEEE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﻿﻿﻿Chintapalli, S. S. N., Singh, S. P., Frnda, J., Divakarachari, P. B., Sarraju, V. L., &amp; Falkowski-Gilski, P. (2024). OOA-modified Bi-LSTM network: An effective intrusion detection framework for IoT systems. Heliyon, 10(8).</a:t>
            </a:r>
            <a:endParaRPr sz="1700"/>
          </a:p>
        </p:txBody>
      </p:sp>
      <p:pic>
        <p:nvPicPr>
          <p:cNvPr descr="icias-2025.jpg" id="132" name="Google Shape;1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3507" y="85130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References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8650" y="1095325"/>
            <a:ext cx="7886700" cy="3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6"/>
            </a:pPr>
            <a:r>
              <a:rPr lang="en" sz="1600"/>
              <a:t>﻿﻿Selvam, R., &amp; Velliangiri, S. (2024, March). An improving intrusion detection model based on novel CNN technique using recent CIC-IDS datasets. In 2024 International Conference on Distributed Computing and Optimization Techniques (ICDCOT) (pp. 1-6). IEEE.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6"/>
            </a:pPr>
            <a:r>
              <a:rPr lang="en" sz="1600"/>
              <a:t>Al-Kahtani, M. S., Mehmood, Z., Sadad, T., Zada, I., Ali, G., &amp; ElAffendi, M. (2023). Intrusion detection in the Internet of Things using fusion of GRU-LSTM deep learning model. Intelligent Automation &amp; Soft Computing, 37(2), 2279-2290.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6"/>
            </a:pPr>
            <a:r>
              <a:rPr lang="en" sz="1600"/>
              <a:t>﻿﻿﻿Induru, V., &amp; Pushpakumar, R. (2020). Combining LSTM and GRU for efficient intrusion detection and alert correlation in cloud networks. International Journal of Multidisciplinary Research and Growth Evaluation, 1(1), 154-160.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6"/>
            </a:pPr>
            <a:r>
              <a:rPr lang="en" sz="1600"/>
              <a:t>﻿﻿﻿Kilichev, D., Turimov, D., &amp; Kim, W. (2024). Next-generation intrusion detection for iot evcs: Integrating cnn, Istm, and gru models. Mathematics, 12(4), 571.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6"/>
            </a:pPr>
            <a:r>
              <a:rPr lang="en" sz="1600"/>
              <a:t>Alsyaibani, O. M. A., Utami, E., Raharjo, S., &amp; Hartanto, A. D. (2022). Stacked LSTM-GRU model for traffic anomalies detection. Telematika, 15(2), 81-91.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6"/>
            </a:pPr>
            <a:r>
              <a:rPr lang="en" sz="1600"/>
              <a:t>﻿﻿﻿﻿Abdulhammed, R., Musafer, H., Alessa, A., Faezipour, M., &amp; Abuzneid, A. (2019). Features dimensionality reduction approaches for machine learning based network intrusion detection. Electronics, 8(3), 322.</a:t>
            </a:r>
            <a:endParaRPr sz="1600"/>
          </a:p>
        </p:txBody>
      </p:sp>
      <p:pic>
        <p:nvPicPr>
          <p:cNvPr descr="icias-2025.jpg" id="139" name="Google Shape;1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3507" y="85130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References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628650" y="1095325"/>
            <a:ext cx="7886700" cy="3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12"/>
            </a:pPr>
            <a:r>
              <a:rPr lang="en" sz="1600"/>
              <a:t>﻿﻿﻿﻿Using a long short-term memory recurrent neural network (LSTM-RNN) to classify network attacks. Information, 11(5), 243.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12"/>
            </a:pPr>
            <a:r>
              <a:rPr lang="en" sz="1600"/>
              <a:t>﻿﻿﻿﻿Gautam, S., Henry, A., Zuhair, M., Rashid, M., Javed, A. R., &amp; Maddikunta, P. K.R. (2022). A composite approach of intrusion detection systems: Hybrid RNN and correlation-based feature optimization. Electronics, 11(21), 3529.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12"/>
            </a:pPr>
            <a:r>
              <a:rPr lang="en" sz="1600"/>
              <a:t>﻿﻿﻿﻿Henry, A., Gautam, S., Khanna, S., Rabie, K., Shongwe, T., Bhattacharya, P &amp; Chowdhury, S. (2023). Composition of hybrid deep learning model and feature optimization for intrusion detection system. Sensors, 23(2), 890.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12"/>
            </a:pPr>
            <a:r>
              <a:rPr lang="en" sz="1600"/>
              <a:t>﻿﻿﻿﻿Vaya, D., &amp; Saxena, R. K. (2025). An in-depth comparative analysis of malware detection techniques. In Recent Advances in Sciences, Engineering, Information Technology &amp; Management (pp. 274-283). CRC Press.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 startAt="12"/>
            </a:pPr>
            <a:r>
              <a:rPr lang="en" sz="1600"/>
              <a:t>﻿﻿﻿﻿Vaya, D., &amp; Saxena, R. K. An In-Depth Comparative Analysis of Malware Classification Techniques. Cybersecurity in Knowledge Management, 151-165.</a:t>
            </a:r>
            <a:endParaRPr sz="1600"/>
          </a:p>
        </p:txBody>
      </p:sp>
      <p:pic>
        <p:nvPicPr>
          <p:cNvPr descr="icias-2025.jpg" id="146" name="Google Shape;1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3507" y="85130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485550" y="2199750"/>
            <a:ext cx="21729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descr="icias-2025.jpg" id="152" name="Google Shape;1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3700" y="85130"/>
            <a:ext cx="2173029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